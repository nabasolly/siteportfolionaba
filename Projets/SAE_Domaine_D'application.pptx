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72" r:id="rId6"/>
    <p:sldId id="262" r:id="rId7"/>
    <p:sldId id="263" r:id="rId8"/>
    <p:sldId id="264" r:id="rId9"/>
    <p:sldId id="266" r:id="rId10"/>
    <p:sldId id="267" r:id="rId11"/>
    <p:sldId id="269" r:id="rId12"/>
    <p:sldId id="270" r:id="rId13"/>
    <p:sldId id="273" r:id="rId14"/>
    <p:sldId id="271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9238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FAA37-09CE-0AFD-CC5E-12F6637A0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C913C1-E002-A989-29DC-3A43192AF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617E9-BFF2-BF1E-EA6C-3FB048EB6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0A5B9-0AD9-3336-E5DE-AD78BA40FC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885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76600-0F74-EAD6-40B3-7A733A0CA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63FAB-E84A-074B-18DD-1361B75D3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76CA6D-06AC-939F-A825-EFC6585C9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182CC-975E-9A62-DCAD-4B6FD77242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5732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14400" y="1600200"/>
            <a:ext cx="7315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VALEURS</a:t>
            </a:r>
            <a:endParaRPr lang="en-US" sz="3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BIOLOGIQUEMENT ATYPIQUES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321868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longitudinale de la ferritine et du fer sérique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199" y="4617720"/>
            <a:ext cx="82177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BUT SD FI EMS 					   Wilma TALLY | Naba SOLLY | Amjad NASSER | Anthony EL DAHDAH</a:t>
            </a:r>
          </a:p>
        </p:txBody>
      </p:sp>
      <p:sp>
        <p:nvSpPr>
          <p:cNvPr id="7" name="Text 5"/>
          <p:cNvSpPr/>
          <p:nvPr/>
        </p:nvSpPr>
        <p:spPr>
          <a:xfrm>
            <a:off x="8549640" y="46177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pic>
        <p:nvPicPr>
          <p:cNvPr id="1026" name="Picture 2" descr="IUT de Paris - Rives de Seine | Université Paris Cité">
            <a:extLst>
              <a:ext uri="{FF2B5EF4-FFF2-40B4-BE49-F238E27FC236}">
                <a16:creationId xmlns:a16="http://schemas.microsoft.com/office/drawing/2014/main" id="{593A4798-CFFB-E3CA-C057-610C298E0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318" y="0"/>
            <a:ext cx="2801682" cy="571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549640" y="49194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contexte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0756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Analyse descriptive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82549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univariée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saisonnière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40680" y="20756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multivariée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40680" y="282549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51435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164592" y="384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64592" y="96012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2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objectifs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549640" y="49194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537972"/>
            <a:ext cx="6400800" cy="4187952"/>
          </a:xfrm>
          <a:prstGeom prst="roundRect">
            <a:avLst>
              <a:gd name="adj" fmla="val 262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88920" y="658368"/>
            <a:ext cx="589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clinique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88920" y="1005840"/>
            <a:ext cx="5897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biomarqueurs : ferritine et fer sérique. 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individus avec plusieurs prélèvements chacun.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88920" y="1883664"/>
            <a:ext cx="57607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788920" y="3111240"/>
            <a:ext cx="589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approches testées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20340" y="3223260"/>
            <a:ext cx="5897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Univariée (z-scores indépendants)  ② Saisonnière (séparation S1/S2)  ③ </a:t>
            </a:r>
            <a:r>
              <a:rPr lang="en-US" sz="11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Multivariée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54630" y="3039499"/>
            <a:ext cx="57607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754630" y="1872297"/>
            <a:ext cx="589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centrale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88920" y="3602736"/>
            <a:ext cx="5897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fr-FR" sz="1200" dirty="0"/>
              <a:t>.</a:t>
            </a:r>
            <a:endParaRPr lang="en-US" sz="115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774B3124-FB35-6336-93E0-4381BC421E7F}"/>
              </a:ext>
            </a:extLst>
          </p:cNvPr>
          <p:cNvSpPr/>
          <p:nvPr/>
        </p:nvSpPr>
        <p:spPr>
          <a:xfrm>
            <a:off x="2720340" y="2026320"/>
            <a:ext cx="5897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fr-FR" sz="1200" dirty="0"/>
              <a:t>Parmi nos 30 individus suivis dans le temps, lesquels présentent des valeurs biologiques suffisamment anormales pour mériter une attention particulière ?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51435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164592" y="384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64592" y="96012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2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ferritine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549640" y="49194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864" y="384048"/>
            <a:ext cx="4023360" cy="2743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487168" y="3246120"/>
            <a:ext cx="4023360" cy="1389888"/>
          </a:xfrm>
          <a:prstGeom prst="roundRect">
            <a:avLst>
              <a:gd name="adj" fmla="val 789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2651760" y="3310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Histogramme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651760" y="36118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asymétrique à droite — majorité des valeurs entre 0 et 100 µg/L, queue étalée jusqu'à ~390 µg/L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565392" y="3246120"/>
            <a:ext cx="2377440" cy="1389888"/>
          </a:xfrm>
          <a:prstGeom prst="roundRect">
            <a:avLst>
              <a:gd name="adj" fmla="val 789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6720840" y="33101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720840" y="36118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Médiane ≈ 70, IQR ≈ 100 µg/L — 6 outliers au-delà de 300 µg/L</a:t>
            </a:r>
            <a:endParaRPr lang="en-US" sz="1000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58EE44F7-A21A-AF5A-6198-B9DCFA4F1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215" y="471168"/>
            <a:ext cx="3162650" cy="26789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89FE69-8538-9377-0568-9C8595BA2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B52905F-09C8-FAD7-9BEF-5C1F60BF340D}"/>
              </a:ext>
            </a:extLst>
          </p:cNvPr>
          <p:cNvSpPr/>
          <p:nvPr/>
        </p:nvSpPr>
        <p:spPr>
          <a:xfrm>
            <a:off x="-155448" y="4572"/>
            <a:ext cx="2331720" cy="51435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167361-21CB-A5C1-377C-78ED9177CBAB}"/>
              </a:ext>
            </a:extLst>
          </p:cNvPr>
          <p:cNvSpPr/>
          <p:nvPr/>
        </p:nvSpPr>
        <p:spPr>
          <a:xfrm>
            <a:off x="164592" y="384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8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24F1BA2-2F82-D43A-CF26-34E54CD55C34}"/>
              </a:ext>
            </a:extLst>
          </p:cNvPr>
          <p:cNvSpPr/>
          <p:nvPr/>
        </p:nvSpPr>
        <p:spPr>
          <a:xfrm>
            <a:off x="164592" y="96012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2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fer </a:t>
            </a:r>
            <a:r>
              <a:rPr lang="en-US" sz="2100" b="1" dirty="0" err="1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serique</a:t>
            </a:r>
            <a:r>
              <a:rPr lang="en-US" sz="2100" b="1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9F645CF-8220-93A9-6FAF-90097EE2AD6F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C48C1A4-45A3-65E3-F2D6-83D739FCB199}"/>
              </a:ext>
            </a:extLst>
          </p:cNvPr>
          <p:cNvSpPr/>
          <p:nvPr/>
        </p:nvSpPr>
        <p:spPr>
          <a:xfrm>
            <a:off x="8549640" y="49194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9412D71A-DA93-96E8-9C5D-95F6E0593601}"/>
              </a:ext>
            </a:extLst>
          </p:cNvPr>
          <p:cNvSpPr/>
          <p:nvPr/>
        </p:nvSpPr>
        <p:spPr>
          <a:xfrm>
            <a:off x="2487168" y="3246120"/>
            <a:ext cx="4023360" cy="1389888"/>
          </a:xfrm>
          <a:prstGeom prst="roundRect">
            <a:avLst>
              <a:gd name="adj" fmla="val 789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2C234E8-7E26-1E3D-D8DB-BA9A07566291}"/>
              </a:ext>
            </a:extLst>
          </p:cNvPr>
          <p:cNvSpPr/>
          <p:nvPr/>
        </p:nvSpPr>
        <p:spPr>
          <a:xfrm>
            <a:off x="2651760" y="3310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Histogramme</a:t>
            </a:r>
            <a:endParaRPr lang="en-US" sz="11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BF98EF1-3C17-2457-1387-3E5F35498100}"/>
              </a:ext>
            </a:extLst>
          </p:cNvPr>
          <p:cNvSpPr/>
          <p:nvPr/>
        </p:nvSpPr>
        <p:spPr>
          <a:xfrm>
            <a:off x="2651760" y="36118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000" dirty="0"/>
              <a:t>Distribution relativement symétrique les valeurs sont majoritairement entre 10 et 27.</a:t>
            </a:r>
            <a:endParaRPr lang="en-US" sz="10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BC4D9C81-5CD0-3AEF-28D0-21DCCEE420DF}"/>
              </a:ext>
            </a:extLst>
          </p:cNvPr>
          <p:cNvSpPr/>
          <p:nvPr/>
        </p:nvSpPr>
        <p:spPr>
          <a:xfrm>
            <a:off x="6565392" y="3246120"/>
            <a:ext cx="2377440" cy="1389888"/>
          </a:xfrm>
          <a:prstGeom prst="roundRect">
            <a:avLst>
              <a:gd name="adj" fmla="val 789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3876EE7D-DA84-2584-3DD8-4BCF3BEBAEF5}"/>
              </a:ext>
            </a:extLst>
          </p:cNvPr>
          <p:cNvSpPr/>
          <p:nvPr/>
        </p:nvSpPr>
        <p:spPr>
          <a:xfrm>
            <a:off x="6720840" y="33101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</a:t>
            </a:r>
            <a:endParaRPr lang="en-US" sz="11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65EA3929-B19E-6036-0090-C184DE880742}"/>
              </a:ext>
            </a:extLst>
          </p:cNvPr>
          <p:cNvSpPr/>
          <p:nvPr/>
        </p:nvSpPr>
        <p:spPr>
          <a:xfrm>
            <a:off x="6720840" y="36118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Médiane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similaire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la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d’environ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17, pas de outlier</a:t>
            </a:r>
            <a:endParaRPr lang="en-US" sz="1000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38F278CF-D61E-DF72-87D1-C520DD24B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141" y="548744"/>
            <a:ext cx="3876011" cy="2441344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48689D72-2E74-2389-B5EF-599C4A8AE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516" y="612752"/>
            <a:ext cx="2670048" cy="2441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univariée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4407408"/>
            <a:ext cx="2697480" cy="0"/>
          </a:xfrm>
          <a:prstGeom prst="line">
            <a:avLst/>
          </a:prstGeom>
          <a:noFill/>
          <a:ln w="19050">
            <a:solidFill>
              <a:srgbClr val="7B1D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4407408"/>
            <a:ext cx="269748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94360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4407408"/>
            <a:ext cx="269748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549640" y="49194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51435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164592" y="384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UNIVARIÉE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42316" y="1133856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</a:t>
            </a:r>
            <a:endParaRPr lang="en-US" sz="2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z-score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549640" y="49194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05456" y="96012"/>
            <a:ext cx="6473952" cy="777240"/>
          </a:xfrm>
          <a:prstGeom prst="roundRect">
            <a:avLst>
              <a:gd name="adj" fmla="val 11765"/>
            </a:avLst>
          </a:prstGeom>
          <a:solidFill>
            <a:srgbClr val="7B1D3A"/>
          </a:solidFill>
          <a:ln w="12700">
            <a:solidFill>
              <a:srgbClr val="7B1D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505456" y="178308"/>
            <a:ext cx="6473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 =  max   |  ( xij − x̄(−j) )  /  s(−j) sqrt(1+1/n-1)  |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87168" y="1389888"/>
            <a:ext cx="6473952" cy="713232"/>
          </a:xfrm>
          <a:prstGeom prst="roundRect">
            <a:avLst>
              <a:gd name="adj" fmla="val 1538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670048" y="146304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Retirer la valeur xij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70048" y="175564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isole temporairement la j-ème mesure pour qu'elle n'influence pas son propre z-score.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87168" y="2194560"/>
            <a:ext cx="6473952" cy="713232"/>
          </a:xfrm>
          <a:prstGeom prst="roundRect">
            <a:avLst>
              <a:gd name="adj" fmla="val 1538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670048" y="226771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Calculer x̄(−j) et s(−j)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70048" y="256032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et écart-type estimés sur les mesures restantes de l'individu.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87168" y="2999232"/>
            <a:ext cx="6473952" cy="713232"/>
          </a:xfrm>
          <a:prstGeom prst="roundRect">
            <a:avLst>
              <a:gd name="adj" fmla="val 1538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670048" y="307238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Z-score de la valeur exclue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70048" y="336499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de xij à la distribution du reste, en nombre d'écarts-types.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87168" y="3803904"/>
            <a:ext cx="6473952" cy="713232"/>
          </a:xfrm>
          <a:prstGeom prst="roundRect">
            <a:avLst>
              <a:gd name="adj" fmla="val 1538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670048" y="387705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Tn = maximum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70048" y="416966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garde la valeur la plus extrême. Si Tn &gt; seuil critique → individu anormal.</a:t>
            </a:r>
            <a:endParaRPr lang="en-US" sz="11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F1488C40-2B4C-FF43-5215-B07DFBA08FE6}"/>
              </a:ext>
            </a:extLst>
          </p:cNvPr>
          <p:cNvSpPr/>
          <p:nvPr/>
        </p:nvSpPr>
        <p:spPr>
          <a:xfrm>
            <a:off x="2834640" y="90982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dirty="0"/>
              <a:t>⚠️ Le </a:t>
            </a:r>
            <a:r>
              <a:rPr lang="en-US" sz="1100" dirty="0" err="1"/>
              <a:t>nombre</a:t>
            </a:r>
            <a:r>
              <a:rPr lang="en-US" sz="1100" dirty="0"/>
              <a:t> de </a:t>
            </a:r>
            <a:r>
              <a:rPr lang="en-US" sz="1100" dirty="0" err="1"/>
              <a:t>prélèvement</a:t>
            </a:r>
            <a:r>
              <a:rPr lang="en-US" sz="1100" dirty="0"/>
              <a:t> doit </a:t>
            </a:r>
            <a:r>
              <a:rPr lang="en-US" sz="1100" dirty="0" err="1"/>
              <a:t>etre</a:t>
            </a:r>
            <a:r>
              <a:rPr lang="en-US" sz="1100" dirty="0"/>
              <a:t> supérieur à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6639" y="-49730"/>
            <a:ext cx="2331720" cy="51435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Text 1"/>
          <p:cNvSpPr/>
          <p:nvPr/>
        </p:nvSpPr>
        <p:spPr>
          <a:xfrm>
            <a:off x="345832" y="118903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UNIVARIÉE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64592" y="96012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549640" y="49194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72652" y="432885"/>
            <a:ext cx="1810512" cy="1389888"/>
          </a:xfrm>
          <a:prstGeom prst="roundRect">
            <a:avLst>
              <a:gd name="adj" fmla="val 6579"/>
            </a:avLst>
          </a:prstGeom>
          <a:solidFill>
            <a:srgbClr val="7B1D3A"/>
          </a:solidFill>
          <a:ln w="12700">
            <a:solidFill>
              <a:srgbClr val="7B1D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2534482" y="49423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Ferritine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496312" y="734781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individu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détecté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496312" y="1351465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2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72652" y="2679192"/>
            <a:ext cx="1810512" cy="1389888"/>
          </a:xfrm>
          <a:prstGeom prst="roundRect">
            <a:avLst>
              <a:gd name="adj" fmla="val 6579"/>
            </a:avLst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3" name="Text 10"/>
          <p:cNvSpPr/>
          <p:nvPr/>
        </p:nvSpPr>
        <p:spPr>
          <a:xfrm>
            <a:off x="2489846" y="274766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 sérique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471556" y="3071673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individu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détecté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471556" y="3685093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sous le seuil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670048" y="352044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670048" y="3822192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A4C5F50E-83B9-00DD-D7A7-94239FB24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952" y="34165"/>
            <a:ext cx="3417688" cy="2130094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BB0DD0F6-C137-4DCB-A247-AABB1CCA9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630" y="2189510"/>
            <a:ext cx="3283465" cy="1989363"/>
          </a:xfrm>
          <a:prstGeom prst="rect">
            <a:avLst/>
          </a:prstGeom>
        </p:spPr>
      </p:pic>
      <p:sp>
        <p:nvSpPr>
          <p:cNvPr id="26" name="Shape 5">
            <a:extLst>
              <a:ext uri="{FF2B5EF4-FFF2-40B4-BE49-F238E27FC236}">
                <a16:creationId xmlns:a16="http://schemas.microsoft.com/office/drawing/2014/main" id="{90C6542E-3F5C-0D0A-BF81-72D58281ED35}"/>
              </a:ext>
            </a:extLst>
          </p:cNvPr>
          <p:cNvSpPr/>
          <p:nvPr/>
        </p:nvSpPr>
        <p:spPr>
          <a:xfrm>
            <a:off x="40376" y="2256485"/>
            <a:ext cx="2197690" cy="520818"/>
          </a:xfrm>
          <a:prstGeom prst="roundRect">
            <a:avLst>
              <a:gd name="adj" fmla="val 6579"/>
            </a:avLst>
          </a:prstGeom>
          <a:solidFill>
            <a:srgbClr val="7B1D3A"/>
          </a:solidFill>
          <a:ln w="12700">
            <a:solidFill>
              <a:srgbClr val="7B1D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904C4A34-DA4B-996C-5B8A-65611515DB3E}"/>
              </a:ext>
            </a:extLst>
          </p:cNvPr>
          <p:cNvSpPr/>
          <p:nvPr/>
        </p:nvSpPr>
        <p:spPr>
          <a:xfrm>
            <a:off x="102430" y="2354968"/>
            <a:ext cx="3156526" cy="209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7 </a:t>
            </a:r>
            <a:r>
              <a:rPr lang="en-US" sz="1100" dirty="0" err="1">
                <a:solidFill>
                  <a:schemeClr val="bg1"/>
                </a:solidFill>
              </a:rPr>
              <a:t>individus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exclus</a:t>
            </a:r>
            <a:r>
              <a:rPr lang="en-US" sz="1100" dirty="0">
                <a:solidFill>
                  <a:schemeClr val="bg1"/>
                </a:solidFill>
              </a:rPr>
              <a:t> pour la </a:t>
            </a:r>
            <a:r>
              <a:rPr lang="en-US" sz="1100" dirty="0" err="1">
                <a:solidFill>
                  <a:schemeClr val="bg1"/>
                </a:solidFill>
              </a:rPr>
              <a:t>ferritine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8 </a:t>
            </a:r>
            <a:r>
              <a:rPr lang="en-US" sz="1100" dirty="0" err="1">
                <a:solidFill>
                  <a:schemeClr val="bg1"/>
                </a:solidFill>
              </a:rPr>
              <a:t>individus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exclus</a:t>
            </a:r>
            <a:r>
              <a:rPr lang="en-US" sz="1100" dirty="0">
                <a:solidFill>
                  <a:schemeClr val="bg1"/>
                </a:solidFill>
              </a:rPr>
              <a:t> pour le fer </a:t>
            </a:r>
            <a:r>
              <a:rPr lang="en-US" sz="1100" dirty="0" err="1">
                <a:solidFill>
                  <a:schemeClr val="bg1"/>
                </a:solidFill>
              </a:rPr>
              <a:t>serique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F9424210-CE9B-026E-9916-517CABF8438A}"/>
              </a:ext>
            </a:extLst>
          </p:cNvPr>
          <p:cNvSpPr/>
          <p:nvPr/>
        </p:nvSpPr>
        <p:spPr>
          <a:xfrm>
            <a:off x="2357512" y="4226252"/>
            <a:ext cx="6473952" cy="545151"/>
          </a:xfrm>
          <a:prstGeom prst="roundRect">
            <a:avLst>
              <a:gd name="adj" fmla="val 14634"/>
            </a:avLst>
          </a:prstGeom>
          <a:solidFill>
            <a:srgbClr val="F5EAEE"/>
          </a:solidFill>
          <a:ln w="12700">
            <a:solidFill>
              <a:srgbClr val="F5EAEE"/>
            </a:solidFill>
            <a:prstDash val="solid"/>
          </a:ln>
        </p:spPr>
        <p:txBody>
          <a:bodyPr/>
          <a:lstStyle/>
          <a:p>
            <a:pPr>
              <a:lnSpc>
                <a:spcPct val="130000"/>
              </a:lnSpc>
            </a:pPr>
            <a:r>
              <a:rPr lang="fr-FR" sz="1000" dirty="0"/>
              <a:t>Ce résultat est en réalité cohérent : la méthode univariée ne détecte que les anomalies très marquées sur un biomarqueur isolé. Elle est utile comme première alerte, mais insuffisante seule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saisonnière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4069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&amp; Résultats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4407408"/>
            <a:ext cx="4069080" cy="0"/>
          </a:xfrm>
          <a:prstGeom prst="line">
            <a:avLst/>
          </a:prstGeom>
          <a:noFill/>
          <a:ln w="19050">
            <a:solidFill>
              <a:srgbClr val="7B1D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0" y="4069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des résultats différents 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4407408"/>
            <a:ext cx="406908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549640" y="49194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51435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164592" y="384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SAISONNIÈRE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64592" y="96012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</a:t>
            </a:r>
            <a:endParaRPr lang="en-US" sz="2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résultats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549640" y="49194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32304" y="57150"/>
            <a:ext cx="2971800" cy="2514600"/>
          </a:xfrm>
          <a:prstGeom prst="roundRect">
            <a:avLst>
              <a:gd name="adj" fmla="val 436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619756" y="91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saison 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4308" y="32004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ferritine varie naturellement selon la période de l'année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= prélèvements impairs / S2 = prélèvements pairs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calculé séparément dans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demi-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max entre les deux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 variabilité saisonnière et vraie anomalie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607362" y="3808602"/>
            <a:ext cx="2489769" cy="716675"/>
          </a:xfrm>
          <a:prstGeom prst="roundRect">
            <a:avLst>
              <a:gd name="adj" fmla="val 5814"/>
            </a:avLst>
          </a:prstGeom>
          <a:solidFill>
            <a:srgbClr val="7B1D3A"/>
          </a:solidFill>
          <a:ln w="12700">
            <a:solidFill>
              <a:srgbClr val="7B1D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2987445" y="3987735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Ferritine — ID 25 détecté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34056" y="29718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42432" y="3154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42432" y="34747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92F8F83F-839A-3961-751A-F99E8F332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16" y="75962"/>
            <a:ext cx="3867325" cy="2362043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BCA5840C-131A-ABE6-B583-AED2602A1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9043" y="2633374"/>
            <a:ext cx="3624563" cy="2197043"/>
          </a:xfrm>
          <a:prstGeom prst="rect">
            <a:avLst/>
          </a:prstGeom>
        </p:spPr>
      </p:pic>
      <p:sp>
        <p:nvSpPr>
          <p:cNvPr id="21" name="Shape 8">
            <a:extLst>
              <a:ext uri="{FF2B5EF4-FFF2-40B4-BE49-F238E27FC236}">
                <a16:creationId xmlns:a16="http://schemas.microsoft.com/office/drawing/2014/main" id="{94FF2F16-ABE7-BFF2-965E-DBE934670168}"/>
              </a:ext>
            </a:extLst>
          </p:cNvPr>
          <p:cNvSpPr/>
          <p:nvPr/>
        </p:nvSpPr>
        <p:spPr>
          <a:xfrm>
            <a:off x="2645620" y="2985642"/>
            <a:ext cx="2489769" cy="716675"/>
          </a:xfrm>
          <a:prstGeom prst="roundRect">
            <a:avLst>
              <a:gd name="adj" fmla="val 5814"/>
            </a:avLst>
          </a:prstGeom>
          <a:solidFill>
            <a:srgbClr val="7B1D3A"/>
          </a:solidFill>
          <a:ln w="12700">
            <a:solidFill>
              <a:srgbClr val="7B1D3A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0837775C-CA0B-F4B0-3FA6-64E3EA6A91F0}"/>
              </a:ext>
            </a:extLst>
          </p:cNvPr>
          <p:cNvSpPr/>
          <p:nvPr/>
        </p:nvSpPr>
        <p:spPr>
          <a:xfrm>
            <a:off x="2841813" y="314719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Les </a:t>
            </a:r>
            <a:r>
              <a:rPr lang="en-US" sz="1100" dirty="0" err="1">
                <a:solidFill>
                  <a:schemeClr val="bg1"/>
                </a:solidFill>
              </a:rPr>
              <a:t>identifiants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ayant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moins</a:t>
            </a:r>
            <a:r>
              <a:rPr lang="en-US" sz="1100" dirty="0">
                <a:solidFill>
                  <a:schemeClr val="bg1"/>
                </a:solidFill>
              </a:rPr>
              <a:t> de 4 </a:t>
            </a:r>
            <a:r>
              <a:rPr lang="en-US" sz="1100" dirty="0" err="1">
                <a:solidFill>
                  <a:schemeClr val="bg1"/>
                </a:solidFill>
              </a:rPr>
              <a:t>prelevements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s’affiche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en</a:t>
            </a:r>
            <a:r>
              <a:rPr lang="en-US" sz="1100" dirty="0">
                <a:solidFill>
                  <a:schemeClr val="bg1"/>
                </a:solidFill>
              </a:rPr>
              <a:t> 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multivariée 2D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4407408"/>
            <a:ext cx="2697480" cy="0"/>
          </a:xfrm>
          <a:prstGeom prst="line">
            <a:avLst/>
          </a:prstGeom>
          <a:noFill/>
          <a:ln w="19050">
            <a:solidFill>
              <a:srgbClr val="7B1D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4407408"/>
            <a:ext cx="269748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94360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du seuil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4407408"/>
            <a:ext cx="269748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549640" y="49194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942" y="-41148"/>
            <a:ext cx="2331720" cy="51435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164592" y="384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MULTIVARIÉE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64592" y="96012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2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lecture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549640" y="49194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87168" y="411480"/>
            <a:ext cx="6473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097648" y="1815084"/>
            <a:ext cx="1965960" cy="1261872"/>
          </a:xfrm>
          <a:prstGeom prst="roundRect">
            <a:avLst>
              <a:gd name="adj" fmla="val 7246"/>
            </a:avLst>
          </a:prstGeom>
          <a:solidFill>
            <a:srgbClr val="7B1D3A"/>
          </a:solidFill>
          <a:ln w="12700">
            <a:solidFill>
              <a:srgbClr val="7B1D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990588" y="1845869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7023095" y="2458645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2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individus anormaux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2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24 et 28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150608" y="2487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50608" y="2761488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487168" y="3913632"/>
            <a:ext cx="6473952" cy="749808"/>
          </a:xfrm>
          <a:prstGeom prst="roundRect">
            <a:avLst>
              <a:gd name="adj" fmla="val 14634"/>
            </a:avLst>
          </a:prstGeom>
          <a:solidFill>
            <a:srgbClr val="F5EAEE"/>
          </a:solidFill>
          <a:ln w="12700">
            <a:solidFill>
              <a:srgbClr val="F5EA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2670048" y="3977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: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46120" y="397764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24 et 28 ne sont pas extrêmes sur un seul marqueur — c'est leur combinaison (ferritine + fer sérique) qui est biologiquement inhabituelle. Seule la méthode multivariée peut les repérer.</a:t>
            </a:r>
            <a:endParaRPr lang="en-US" sz="1050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4EC105A1-CA36-52EC-4269-CE012FAEB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854" y="601218"/>
            <a:ext cx="4826201" cy="30038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6B812B-3AE1-66F4-3EB1-3F182AF11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80BF40A-3060-7269-013E-936FA30D23CB}"/>
              </a:ext>
            </a:extLst>
          </p:cNvPr>
          <p:cNvSpPr/>
          <p:nvPr/>
        </p:nvSpPr>
        <p:spPr>
          <a:xfrm>
            <a:off x="-41148" y="-41148"/>
            <a:ext cx="2331720" cy="51435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9AD3EB-2C00-5054-D6F1-2A3163DDCF29}"/>
              </a:ext>
            </a:extLst>
          </p:cNvPr>
          <p:cNvSpPr/>
          <p:nvPr/>
        </p:nvSpPr>
        <p:spPr>
          <a:xfrm>
            <a:off x="475488" y="274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kern="0" spc="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DU SEUIL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16F5E2C-C237-98F3-89DB-31032FF9A4BD}"/>
              </a:ext>
            </a:extLst>
          </p:cNvPr>
          <p:cNvSpPr/>
          <p:nvPr/>
        </p:nvSpPr>
        <p:spPr>
          <a:xfrm>
            <a:off x="2686742" y="-34982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100" b="1" dirty="0" err="1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</a:t>
            </a:r>
            <a:r>
              <a:rPr lang="en-US" sz="2100" b="1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0,8 vs 0,95</a:t>
            </a:r>
            <a:endParaRPr lang="en-US" sz="2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7332E6C-FDA8-1EF0-3A9F-429BD212A91E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A6F7279-647E-ECF5-A440-9C9EEDFE978A}"/>
              </a:ext>
            </a:extLst>
          </p:cNvPr>
          <p:cNvSpPr/>
          <p:nvPr/>
        </p:nvSpPr>
        <p:spPr>
          <a:xfrm>
            <a:off x="8549640" y="49194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6237BFE-0396-3476-46A1-3C88F9022552}"/>
              </a:ext>
            </a:extLst>
          </p:cNvPr>
          <p:cNvSpPr/>
          <p:nvPr/>
        </p:nvSpPr>
        <p:spPr>
          <a:xfrm>
            <a:off x="6995160" y="111556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800" dirty="0"/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BC825491-2406-91CF-10D7-56B8D3A14B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13225"/>
              </p:ext>
            </p:extLst>
          </p:nvPr>
        </p:nvGraphicFramePr>
        <p:xfrm>
          <a:off x="2401684" y="1351543"/>
          <a:ext cx="6644919" cy="21214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808">
                  <a:extLst>
                    <a:ext uri="{9D8B030D-6E8A-4147-A177-3AD203B41FA5}">
                      <a16:colId xmlns:a16="http://schemas.microsoft.com/office/drawing/2014/main" val="218707659"/>
                    </a:ext>
                  </a:extLst>
                </a:gridCol>
                <a:gridCol w="1224808">
                  <a:extLst>
                    <a:ext uri="{9D8B030D-6E8A-4147-A177-3AD203B41FA5}">
                      <a16:colId xmlns:a16="http://schemas.microsoft.com/office/drawing/2014/main" val="3635990188"/>
                    </a:ext>
                  </a:extLst>
                </a:gridCol>
                <a:gridCol w="1224808">
                  <a:extLst>
                    <a:ext uri="{9D8B030D-6E8A-4147-A177-3AD203B41FA5}">
                      <a16:colId xmlns:a16="http://schemas.microsoft.com/office/drawing/2014/main" val="3235775000"/>
                    </a:ext>
                  </a:extLst>
                </a:gridCol>
                <a:gridCol w="1224808">
                  <a:extLst>
                    <a:ext uri="{9D8B030D-6E8A-4147-A177-3AD203B41FA5}">
                      <a16:colId xmlns:a16="http://schemas.microsoft.com/office/drawing/2014/main" val="99949309"/>
                    </a:ext>
                  </a:extLst>
                </a:gridCol>
                <a:gridCol w="1745687">
                  <a:extLst>
                    <a:ext uri="{9D8B030D-6E8A-4147-A177-3AD203B41FA5}">
                      <a16:colId xmlns:a16="http://schemas.microsoft.com/office/drawing/2014/main" val="2490638256"/>
                    </a:ext>
                  </a:extLst>
                </a:gridCol>
              </a:tblGrid>
              <a:tr h="622516">
                <a:tc>
                  <a:txBody>
                    <a:bodyPr/>
                    <a:lstStyle/>
                    <a:p>
                      <a:r>
                        <a:rPr lang="fr-FR" sz="1100" dirty="0" err="1"/>
                        <a:t>Methode</a:t>
                      </a:r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Biomarqueur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Anormaux à 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/>
                        <a:t>Anormaux à 80%</a:t>
                      </a:r>
                    </a:p>
                    <a:p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 err="1"/>
                        <a:t>Difference</a:t>
                      </a:r>
                      <a:endParaRPr lang="fr-F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547525"/>
                  </a:ext>
                </a:extLst>
              </a:tr>
              <a:tr h="249007"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rgbClr val="222222"/>
                          </a:solidFill>
                          <a:latin typeface="Calibri" pitchFamily="34" charset="0"/>
                        </a:rPr>
                        <a:t>Univariée</a:t>
                      </a:r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rgbClr val="222222"/>
                          </a:solidFill>
                          <a:latin typeface="Calibri" pitchFamily="34" charset="0"/>
                        </a:rPr>
                        <a:t> Ferritine </a:t>
                      </a:r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356743"/>
                  </a:ext>
                </a:extLst>
              </a:tr>
              <a:tr h="249007"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rgbClr val="222222"/>
                          </a:solidFill>
                          <a:latin typeface="Calibri" pitchFamily="34" charset="0"/>
                        </a:rPr>
                        <a:t>Univariée</a:t>
                      </a:r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rgbClr val="222222"/>
                          </a:solidFill>
                          <a:latin typeface="Calibri" pitchFamily="34" charset="0"/>
                        </a:rPr>
                        <a:t>Fer sérique </a:t>
                      </a:r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+3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877573"/>
                  </a:ext>
                </a:extLst>
              </a:tr>
              <a:tr h="249007"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rgbClr val="444444"/>
                          </a:solidFill>
                          <a:latin typeface="Calibri" pitchFamily="34" charset="0"/>
                        </a:rPr>
                        <a:t>Saisonnière</a:t>
                      </a:r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rgbClr val="444444"/>
                          </a:solidFill>
                          <a:latin typeface="Calibri" pitchFamily="34" charset="0"/>
                        </a:rPr>
                        <a:t>Ferritine </a:t>
                      </a:r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+2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16745"/>
                  </a:ext>
                </a:extLst>
              </a:tr>
              <a:tr h="249007"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rgbClr val="444444"/>
                          </a:solidFill>
                          <a:latin typeface="Calibri" pitchFamily="34" charset="0"/>
                        </a:rPr>
                        <a:t>Saisonnière</a:t>
                      </a:r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rgbClr val="222222"/>
                          </a:solidFill>
                          <a:latin typeface="Calibri" pitchFamily="34" charset="0"/>
                        </a:rPr>
                        <a:t>Fer sérique </a:t>
                      </a:r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+2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823503"/>
                  </a:ext>
                </a:extLst>
              </a:tr>
              <a:tr h="462663">
                <a:tc>
                  <a:txBody>
                    <a:bodyPr/>
                    <a:lstStyle/>
                    <a:p>
                      <a:r>
                        <a:rPr lang="fr-FR" sz="1100" dirty="0"/>
                        <a:t>Multivariée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 err="1"/>
                        <a:t>Ferritine+Fer</a:t>
                      </a:r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+3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4133443"/>
                  </a:ext>
                </a:extLst>
              </a:tr>
            </a:tbl>
          </a:graphicData>
        </a:graphic>
      </p:graphicFrame>
      <p:sp>
        <p:nvSpPr>
          <p:cNvPr id="22" name="Shape 13">
            <a:extLst>
              <a:ext uri="{FF2B5EF4-FFF2-40B4-BE49-F238E27FC236}">
                <a16:creationId xmlns:a16="http://schemas.microsoft.com/office/drawing/2014/main" id="{1DD4598A-361B-2719-1734-518D8920DF11}"/>
              </a:ext>
            </a:extLst>
          </p:cNvPr>
          <p:cNvSpPr/>
          <p:nvPr/>
        </p:nvSpPr>
        <p:spPr>
          <a:xfrm>
            <a:off x="2487168" y="3913632"/>
            <a:ext cx="6473952" cy="749808"/>
          </a:xfrm>
          <a:prstGeom prst="roundRect">
            <a:avLst>
              <a:gd name="adj" fmla="val 14634"/>
            </a:avLst>
          </a:prstGeom>
          <a:solidFill>
            <a:srgbClr val="F5EAEE"/>
          </a:solidFill>
          <a:ln w="12700">
            <a:solidFill>
              <a:srgbClr val="F5EA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FF2F2F0B-79A2-4D92-CAF0-7F5A022AB06F}"/>
              </a:ext>
            </a:extLst>
          </p:cNvPr>
          <p:cNvSpPr/>
          <p:nvPr/>
        </p:nvSpPr>
        <p:spPr>
          <a:xfrm>
            <a:off x="3246120" y="397764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00"/>
              </a:lnSpc>
            </a:pPr>
            <a:r>
              <a:rPr lang="fr-FR" sz="1050" i="1" dirty="0">
                <a:solidFill>
                  <a:srgbClr val="555555"/>
                </a:solidFill>
                <a:latin typeface="Calibri" pitchFamily="34" charset="0"/>
              </a:rPr>
              <a:t>→ Seuil 0,95 = plus strict (5% faux positifs acceptés) : recommandé en contexte médical</a:t>
            </a:r>
          </a:p>
          <a:p>
            <a:pPr>
              <a:lnSpc>
                <a:spcPts val="1400"/>
              </a:lnSpc>
            </a:pPr>
            <a:r>
              <a:rPr lang="fr-FR" sz="1050" i="1" dirty="0">
                <a:solidFill>
                  <a:srgbClr val="555555"/>
                </a:solidFill>
                <a:latin typeface="Calibri" pitchFamily="34" charset="0"/>
              </a:rPr>
              <a:t>→ Seuil 0,80 = plus permissif (20% faux positifs) :détecte plus, mais génère plus de fausses alertes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ECD8BAD2-CD97-24AB-CF86-0A25EA752AFE}"/>
              </a:ext>
            </a:extLst>
          </p:cNvPr>
          <p:cNvSpPr/>
          <p:nvPr/>
        </p:nvSpPr>
        <p:spPr>
          <a:xfrm>
            <a:off x="118872" y="1444752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100" b="1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Comparaisons </a:t>
            </a:r>
            <a:r>
              <a:rPr lang="en-US" sz="2100" b="1" dirty="0" err="1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</a:t>
            </a:r>
            <a:r>
              <a:rPr lang="en-US" sz="2100" b="1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</a:t>
            </a:r>
            <a:r>
              <a:rPr lang="en-US" sz="2100" b="1" dirty="0" err="1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seuils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696185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549640" y="49194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2628" y="1027861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58368" y="1078992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piège n°1 est le petit 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1408176"/>
            <a:ext cx="7818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dirty="0"/>
              <a:t>Plusieurs individus exclus car n &lt; 3 — la qualité du résultat dépend avant tout du nombre de prélèvements.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" y="2233485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31520" y="2201103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méthodes, trois angles d'analyse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515775"/>
            <a:ext cx="7818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dirty="0"/>
              <a:t>Univariée : simple mais limitée à un marqueur. Saisonnière : plus adaptée aux variations temporelles. Multivariée : la plus puissante, détecte des anomalies invisibles séparément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2628" y="3461130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31520" y="3439109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seuil est une décision médicale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3783267"/>
            <a:ext cx="7818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seuil à 0.95 ou 0.80 change les conclusions : c'est un arbitrage entre risque de manquer un cas et risque d'alarmer à tort.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761</Words>
  <Application>Microsoft Office PowerPoint</Application>
  <PresentationFormat>Affichage à l'écran (16:9)</PresentationFormat>
  <Paragraphs>168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Détection de valeurs biologiquement atypiques</dc:title>
  <dc:subject>PptxGenJS Presentation</dc:subject>
  <dc:creator>PptxGenJS</dc:creator>
  <cp:lastModifiedBy>Naba SOLLY</cp:lastModifiedBy>
  <cp:revision>5</cp:revision>
  <dcterms:created xsi:type="dcterms:W3CDTF">2026-03-29T13:29:27Z</dcterms:created>
  <dcterms:modified xsi:type="dcterms:W3CDTF">2026-04-01T23:51:25Z</dcterms:modified>
</cp:coreProperties>
</file>